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Cooper BT Light" panose="020B0604020202020204" charset="0"/>
      <p:regular r:id="rId7"/>
    </p:embeddedFont>
    <p:embeddedFont>
      <p:font typeface="Open Sauce" panose="020B0604020202020204" charset="0"/>
      <p:regular r:id="rId8"/>
    </p:embeddedFont>
    <p:embeddedFont>
      <p:font typeface="Open Sauce Bold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32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haiDahari/EmotionBeat.git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7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2301" y="3369093"/>
            <a:ext cx="14843398" cy="1974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02"/>
              </a:lnSpc>
            </a:pPr>
            <a:r>
              <a:rPr lang="en-US" sz="7602">
                <a:solidFill>
                  <a:srgbClr val="F1F1EE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Contextual Emotion Classification in Music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22301" y="6026568"/>
            <a:ext cx="14843398" cy="424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3200" spc="320">
                <a:solidFill>
                  <a:srgbClr val="F1F1EE"/>
                </a:solidFill>
                <a:latin typeface="Open Sauce"/>
                <a:ea typeface="Open Sauce"/>
                <a:cs typeface="Open Sauce"/>
                <a:sym typeface="Open Sauce"/>
              </a:rPr>
              <a:t>PROJECT PROPOSAL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9600" y="8174109"/>
            <a:ext cx="3238500" cy="527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F1F1EE"/>
                </a:solidFill>
                <a:latin typeface="Open Sauce"/>
                <a:ea typeface="Open Sauce"/>
                <a:cs typeface="Open Sauce"/>
                <a:sym typeface="Open Sauce"/>
              </a:rPr>
              <a:t>Repository 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8877300"/>
            <a:ext cx="9448800" cy="527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F1F1EE"/>
                </a:solidFill>
                <a:latin typeface="Open Sauce"/>
                <a:sym typeface="Arimo"/>
                <a:hlinkClick r:id="rId2" tooltip="https://github.com/shaiDahari/EmotionBeat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https://github.com/shaiDahari/EmotionBeat.git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8535326" y="-8535326"/>
            <a:ext cx="1217349" cy="18288000"/>
            <a:chOff x="0" y="0"/>
            <a:chExt cx="411795" cy="61863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1795" cy="6186311"/>
            </a:xfrm>
            <a:custGeom>
              <a:avLst/>
              <a:gdLst/>
              <a:ahLst/>
              <a:cxnLst/>
              <a:rect l="l" t="t" r="r" b="b"/>
              <a:pathLst>
                <a:path w="411795" h="6186311">
                  <a:moveTo>
                    <a:pt x="0" y="0"/>
                  </a:moveTo>
                  <a:lnTo>
                    <a:pt x="411795" y="0"/>
                  </a:lnTo>
                  <a:lnTo>
                    <a:pt x="411795" y="6186311"/>
                  </a:lnTo>
                  <a:lnTo>
                    <a:pt x="0" y="6186311"/>
                  </a:lnTo>
                  <a:close/>
                </a:path>
              </a:pathLst>
            </a:custGeom>
            <a:solidFill>
              <a:srgbClr val="0077B6"/>
            </a:solidFill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3316239" y="1400711"/>
            <a:ext cx="10881914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0077B6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1. Problem Statement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57196" y="196559"/>
            <a:ext cx="773608" cy="738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F1F1EE"/>
                </a:solidFill>
                <a:latin typeface="Open Sauce"/>
                <a:ea typeface="Open Sauce"/>
                <a:cs typeface="Open Sauce"/>
                <a:sym typeface="Open Sauce"/>
              </a:rPr>
              <a:t>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98419" y="3311589"/>
            <a:ext cx="6326776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0077B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Motivation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8419" y="4564380"/>
            <a:ext cx="8442720" cy="4693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77B6"/>
                </a:solidFill>
                <a:latin typeface="Open Sauce"/>
                <a:ea typeface="Open Sauce"/>
                <a:cs typeface="Open Sauce"/>
                <a:sym typeface="Open Sauce"/>
              </a:rPr>
              <a:t>Music listeners often select songs based on emotional context or situation</a:t>
            </a:r>
          </a:p>
          <a:p>
            <a:pPr marL="604519" lvl="1" indent="-302260" algn="just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77B6"/>
                </a:solidFill>
                <a:latin typeface="Open Sauce"/>
                <a:ea typeface="Open Sauce"/>
                <a:cs typeface="Open Sauce"/>
                <a:sym typeface="Open Sauce"/>
              </a:rPr>
              <a:t>Current music metadata lacks effective emotional/contextual tagging</a:t>
            </a:r>
          </a:p>
          <a:p>
            <a:pPr marL="604519" lvl="1" indent="-302260" algn="just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77B6"/>
                </a:solidFill>
                <a:latin typeface="Open Sauce"/>
                <a:ea typeface="Open Sauce"/>
                <a:cs typeface="Open Sauce"/>
                <a:sym typeface="Open Sauce"/>
              </a:rPr>
              <a:t>Need to recognize implicit emotional context from limited textual data</a:t>
            </a:r>
          </a:p>
          <a:p>
            <a:pPr marL="604519" lvl="1" indent="-302260" algn="just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77B6"/>
                </a:solidFill>
                <a:latin typeface="Open Sauce"/>
                <a:ea typeface="Open Sauce"/>
                <a:cs typeface="Open Sauce"/>
                <a:sym typeface="Open Sauce"/>
              </a:rPr>
              <a:t>Application: Help users find songs that match their emotional state or social context</a:t>
            </a:r>
          </a:p>
          <a:p>
            <a:pPr algn="just">
              <a:lnSpc>
                <a:spcPts val="4199"/>
              </a:lnSpc>
            </a:pPr>
            <a:endParaRPr lang="en-US" sz="2799">
              <a:solidFill>
                <a:srgbClr val="0077B6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530804" y="3369577"/>
            <a:ext cx="6326776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0077B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NLP Task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530804" y="4564380"/>
            <a:ext cx="8465167" cy="4693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77B6"/>
                </a:solidFill>
                <a:latin typeface="Open Sauce"/>
                <a:ea typeface="Open Sauce"/>
                <a:cs typeface="Open Sauce"/>
                <a:sym typeface="Open Sauce"/>
              </a:rPr>
              <a:t>Challenge: Deduce emotional context from limited text (titles, artist names, partial lyrics)</a:t>
            </a:r>
          </a:p>
          <a:p>
            <a:pPr marL="604519" lvl="1" indent="-302260" algn="just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77B6"/>
                </a:solidFill>
                <a:latin typeface="Open Sauce"/>
                <a:ea typeface="Open Sauce"/>
                <a:cs typeface="Open Sauce"/>
                <a:sym typeface="Open Sauce"/>
              </a:rPr>
              <a:t>Input: Song metadata (title, artist, genre) and available text descriptions</a:t>
            </a:r>
          </a:p>
          <a:p>
            <a:pPr marL="604519" lvl="1" indent="-302260" algn="just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77B6"/>
                </a:solidFill>
                <a:latin typeface="Open Sauce"/>
                <a:ea typeface="Open Sauce"/>
                <a:cs typeface="Open Sauce"/>
                <a:sym typeface="Open Sauce"/>
              </a:rPr>
              <a:t>Output for "closed-world" version: Classify into predefined emotion/context categories</a:t>
            </a:r>
          </a:p>
          <a:p>
            <a:pPr marL="604519" lvl="1" indent="-302260" algn="just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77B6"/>
                </a:solidFill>
                <a:latin typeface="Open Sauce"/>
                <a:ea typeface="Open Sauce"/>
                <a:cs typeface="Open Sauce"/>
                <a:sym typeface="Open Sauce"/>
              </a:rPr>
              <a:t>Output for "open-world" version: Generate natural language emotional descriptions</a:t>
            </a:r>
          </a:p>
          <a:p>
            <a:pPr algn="just">
              <a:lnSpc>
                <a:spcPts val="4199"/>
              </a:lnSpc>
            </a:pPr>
            <a:endParaRPr lang="en-US" sz="2799">
              <a:solidFill>
                <a:srgbClr val="0077B6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8535326" y="-8535326"/>
            <a:ext cx="1217349" cy="18288000"/>
            <a:chOff x="0" y="0"/>
            <a:chExt cx="411795" cy="61863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1795" cy="6186311"/>
            </a:xfrm>
            <a:custGeom>
              <a:avLst/>
              <a:gdLst/>
              <a:ahLst/>
              <a:cxnLst/>
              <a:rect l="l" t="t" r="r" b="b"/>
              <a:pathLst>
                <a:path w="411795" h="6186311">
                  <a:moveTo>
                    <a:pt x="0" y="0"/>
                  </a:moveTo>
                  <a:lnTo>
                    <a:pt x="411795" y="0"/>
                  </a:lnTo>
                  <a:lnTo>
                    <a:pt x="411795" y="6186311"/>
                  </a:lnTo>
                  <a:lnTo>
                    <a:pt x="0" y="6186311"/>
                  </a:lnTo>
                  <a:close/>
                </a:path>
              </a:pathLst>
            </a:custGeom>
            <a:solidFill>
              <a:srgbClr val="0077B6"/>
            </a:solidFill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3489198" y="1658669"/>
            <a:ext cx="11309604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0077B6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2. Training and Test Data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57196" y="247359"/>
            <a:ext cx="773608" cy="64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>
                <a:solidFill>
                  <a:srgbClr val="F1F1EE"/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544614"/>
            <a:ext cx="9695136" cy="1313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 b="1">
                <a:solidFill>
                  <a:srgbClr val="0077B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Spotify Most Popular Songs Dataset</a:t>
            </a:r>
          </a:p>
          <a:p>
            <a:pPr algn="l">
              <a:lnSpc>
                <a:spcPts val="5319"/>
              </a:lnSpc>
            </a:pPr>
            <a:endParaRPr lang="en-US" sz="3799" b="1">
              <a:solidFill>
                <a:srgbClr val="0077B6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4325302"/>
            <a:ext cx="13440148" cy="155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77B6"/>
                </a:solidFill>
                <a:latin typeface="Open Sauce"/>
                <a:ea typeface="Open Sauce"/>
                <a:cs typeface="Open Sauce"/>
                <a:sym typeface="Open Sauce"/>
              </a:rPr>
              <a:t>Kaggle dataset containing 160K+ tracks with metadata</a:t>
            </a:r>
          </a:p>
          <a:p>
            <a:pPr marL="604519" lvl="1" indent="-302260" algn="just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77B6"/>
                </a:solidFill>
                <a:latin typeface="Open Sauce"/>
                <a:ea typeface="Open Sauce"/>
                <a:cs typeface="Open Sauce"/>
                <a:sym typeface="Open Sauce"/>
              </a:rPr>
              <a:t>Features: song name, artist, genre, year, popularity metrics</a:t>
            </a:r>
          </a:p>
          <a:p>
            <a:pPr algn="just">
              <a:lnSpc>
                <a:spcPts val="4199"/>
              </a:lnSpc>
            </a:pPr>
            <a:endParaRPr lang="en-US" sz="2799">
              <a:solidFill>
                <a:srgbClr val="0077B6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6038850"/>
            <a:ext cx="3545891" cy="64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 b="1">
                <a:solidFill>
                  <a:srgbClr val="0077B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Synthetic data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6799983"/>
            <a:ext cx="19533973" cy="155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77B6"/>
                </a:solidFill>
                <a:latin typeface="Open Sauce"/>
                <a:ea typeface="Open Sauce"/>
                <a:cs typeface="Open Sauce"/>
                <a:sym typeface="Open Sauce"/>
              </a:rPr>
              <a:t>Source: Partial lyrics and song descriptions where available</a:t>
            </a:r>
          </a:p>
          <a:p>
            <a:pPr marL="604519" lvl="1" indent="-302260" algn="just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77B6"/>
                </a:solidFill>
                <a:latin typeface="Open Sauce"/>
                <a:ea typeface="Open Sauce"/>
                <a:cs typeface="Open Sauce"/>
                <a:sym typeface="Open Sauce"/>
              </a:rPr>
              <a:t>Augmentation:</a:t>
            </a:r>
          </a:p>
          <a:p>
            <a:pPr algn="just">
              <a:lnSpc>
                <a:spcPts val="4199"/>
              </a:lnSpc>
            </a:pPr>
            <a:endParaRPr lang="en-US" sz="2799">
              <a:solidFill>
                <a:srgbClr val="0077B6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620723" y="7856855"/>
            <a:ext cx="12645535" cy="155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u="none" strike="noStrike">
                <a:solidFill>
                  <a:srgbClr val="0077B6"/>
                </a:solidFill>
                <a:latin typeface="Open Sauce"/>
                <a:ea typeface="Open Sauce"/>
                <a:cs typeface="Open Sauce"/>
                <a:sym typeface="Open Sauce"/>
              </a:rPr>
              <a:t>LLM to generate emotional labels for seed dataset</a:t>
            </a:r>
          </a:p>
          <a:p>
            <a:pPr marL="604519" lvl="1" indent="-302260" algn="just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u="none" strike="noStrike">
                <a:solidFill>
                  <a:srgbClr val="0077B6"/>
                </a:solidFill>
                <a:latin typeface="Open Sauce"/>
                <a:ea typeface="Open Sauce"/>
                <a:cs typeface="Open Sauce"/>
                <a:sym typeface="Open Sauce"/>
              </a:rPr>
              <a:t>Human validation on subset to create gold standard</a:t>
            </a:r>
          </a:p>
          <a:p>
            <a:pPr marL="604519" lvl="1" indent="-302260" algn="just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u="none" strike="noStrike">
                <a:solidFill>
                  <a:srgbClr val="0077B6"/>
                </a:solidFill>
                <a:latin typeface="Open Sauce"/>
                <a:ea typeface="Open Sauce"/>
                <a:cs typeface="Open Sauce"/>
                <a:sym typeface="Open Sauce"/>
              </a:rPr>
              <a:t>Data enrichment by collecting additional descriptions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8535326" y="-8535326"/>
            <a:ext cx="1217349" cy="18288000"/>
            <a:chOff x="0" y="0"/>
            <a:chExt cx="411795" cy="61863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1795" cy="6186311"/>
            </a:xfrm>
            <a:custGeom>
              <a:avLst/>
              <a:gdLst/>
              <a:ahLst/>
              <a:cxnLst/>
              <a:rect l="l" t="t" r="r" b="b"/>
              <a:pathLst>
                <a:path w="411795" h="6186311">
                  <a:moveTo>
                    <a:pt x="0" y="0"/>
                  </a:moveTo>
                  <a:lnTo>
                    <a:pt x="411795" y="0"/>
                  </a:lnTo>
                  <a:lnTo>
                    <a:pt x="411795" y="6186311"/>
                  </a:lnTo>
                  <a:lnTo>
                    <a:pt x="0" y="6186311"/>
                  </a:lnTo>
                  <a:close/>
                </a:path>
              </a:pathLst>
            </a:custGeom>
            <a:solidFill>
              <a:srgbClr val="0077B6"/>
            </a:solidFill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123197" y="1496890"/>
            <a:ext cx="6041606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0077B6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3. Evaluation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57196" y="247359"/>
            <a:ext cx="773608" cy="64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>
                <a:solidFill>
                  <a:srgbClr val="F1F1EE"/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544614"/>
            <a:ext cx="9695136" cy="64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 b="1">
                <a:solidFill>
                  <a:srgbClr val="0077B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Closed-world metrics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4533945"/>
            <a:ext cx="13440148" cy="3718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99"/>
              </a:lnSpc>
            </a:pPr>
            <a:r>
              <a:rPr lang="en-US" sz="2999" b="1">
                <a:solidFill>
                  <a:srgbClr val="0077B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Classification metrics</a:t>
            </a:r>
          </a:p>
          <a:p>
            <a:pPr marL="604519" lvl="1" indent="-302260" algn="just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77B6"/>
                </a:solidFill>
                <a:latin typeface="Open Sauce"/>
                <a:ea typeface="Open Sauce"/>
                <a:cs typeface="Open Sauce"/>
                <a:sym typeface="Open Sauce"/>
              </a:rPr>
              <a:t>Precision and Recall</a:t>
            </a:r>
          </a:p>
          <a:p>
            <a:pPr marL="604519" lvl="1" indent="-302260" algn="just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77B6"/>
                </a:solidFill>
                <a:latin typeface="Open Sauce"/>
                <a:ea typeface="Open Sauce"/>
                <a:cs typeface="Open Sauce"/>
                <a:sym typeface="Open Sauce"/>
              </a:rPr>
              <a:t>F1 Score across emotion categories</a:t>
            </a:r>
          </a:p>
          <a:p>
            <a:pPr algn="just">
              <a:lnSpc>
                <a:spcPts val="4499"/>
              </a:lnSpc>
            </a:pPr>
            <a:r>
              <a:rPr lang="en-US" sz="2999" b="1">
                <a:solidFill>
                  <a:srgbClr val="0077B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Baseline</a:t>
            </a:r>
          </a:p>
          <a:p>
            <a:pPr marL="604519" lvl="1" indent="-302260" algn="just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77B6"/>
                </a:solidFill>
                <a:latin typeface="Open Sauce"/>
                <a:ea typeface="Open Sauce"/>
                <a:cs typeface="Open Sauce"/>
                <a:sym typeface="Open Sauce"/>
              </a:rPr>
              <a:t>TF-IDF + Logistic Regression classifier</a:t>
            </a:r>
          </a:p>
          <a:p>
            <a:pPr marL="604519" lvl="1" indent="-302260" algn="just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77B6"/>
                </a:solidFill>
                <a:latin typeface="Open Sauce"/>
                <a:ea typeface="Open Sauce"/>
                <a:cs typeface="Open Sauce"/>
                <a:sym typeface="Open Sauce"/>
              </a:rPr>
              <a:t>Simple embedding similarity</a:t>
            </a:r>
          </a:p>
          <a:p>
            <a:pPr algn="just">
              <a:lnSpc>
                <a:spcPts val="4199"/>
              </a:lnSpc>
            </a:pPr>
            <a:endParaRPr lang="en-US" sz="2799">
              <a:solidFill>
                <a:srgbClr val="0077B6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757196" y="3541589"/>
            <a:ext cx="4938044" cy="64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 b="1">
                <a:solidFill>
                  <a:srgbClr val="0077B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Open-world metrics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57196" y="4533945"/>
            <a:ext cx="9111825" cy="3718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99"/>
              </a:lnSpc>
            </a:pPr>
            <a:r>
              <a:rPr lang="en-US" sz="2999" b="1">
                <a:solidFill>
                  <a:srgbClr val="0077B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Text Generation metrics</a:t>
            </a:r>
          </a:p>
          <a:p>
            <a:pPr marL="604519" lvl="1" indent="-302260" algn="just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77B6"/>
                </a:solidFill>
                <a:latin typeface="Open Sauce"/>
                <a:ea typeface="Open Sauce"/>
                <a:cs typeface="Open Sauce"/>
                <a:sym typeface="Open Sauce"/>
              </a:rPr>
              <a:t>Human evaluation of emotional context accuracy</a:t>
            </a:r>
          </a:p>
          <a:p>
            <a:pPr marL="604519" lvl="1" indent="-302260" algn="just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77B6"/>
                </a:solidFill>
                <a:latin typeface="Open Sauce"/>
                <a:ea typeface="Open Sauce"/>
                <a:cs typeface="Open Sauce"/>
                <a:sym typeface="Open Sauce"/>
              </a:rPr>
              <a:t>LLM-based evaluation of generated descriptions</a:t>
            </a:r>
          </a:p>
          <a:p>
            <a:pPr algn="just">
              <a:lnSpc>
                <a:spcPts val="4499"/>
              </a:lnSpc>
            </a:pPr>
            <a:r>
              <a:rPr lang="en-US" sz="2999" b="1">
                <a:solidFill>
                  <a:srgbClr val="0077B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Baseline</a:t>
            </a:r>
          </a:p>
          <a:p>
            <a:pPr marL="604519" lvl="1" indent="-302260" algn="just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77B6"/>
                </a:solidFill>
                <a:latin typeface="Open Sauce"/>
                <a:ea typeface="Open Sauce"/>
                <a:cs typeface="Open Sauce"/>
                <a:sym typeface="Open Sauce"/>
              </a:rPr>
              <a:t>Zero-shot prompting for emotion classification</a:t>
            </a:r>
          </a:p>
          <a:p>
            <a:pPr marL="604519" lvl="1" indent="-302260" algn="just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77B6"/>
                </a:solidFill>
                <a:latin typeface="Open Sauce"/>
                <a:ea typeface="Open Sauce"/>
                <a:cs typeface="Open Sauce"/>
                <a:sym typeface="Open Sauce"/>
              </a:rPr>
              <a:t>Comparison to existing genre categorization</a:t>
            </a:r>
          </a:p>
          <a:p>
            <a:pPr algn="just">
              <a:lnSpc>
                <a:spcPts val="4199"/>
              </a:lnSpc>
            </a:pPr>
            <a:endParaRPr lang="en-US" sz="2799">
              <a:solidFill>
                <a:srgbClr val="0077B6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7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2301" y="3569118"/>
            <a:ext cx="14843398" cy="240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0"/>
              </a:lnSpc>
            </a:pPr>
            <a:r>
              <a:rPr lang="en-US" sz="18000">
                <a:solidFill>
                  <a:srgbClr val="F1F1EE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Thank You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22301" y="6036093"/>
            <a:ext cx="14843398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600" spc="359">
                <a:solidFill>
                  <a:srgbClr val="F1F1EE"/>
                </a:solidFill>
                <a:latin typeface="Open Sauce"/>
                <a:ea typeface="Open Sauce"/>
                <a:cs typeface="Open Sauce"/>
                <a:sym typeface="Open Sauce"/>
              </a:rPr>
              <a:t>FOR LISTENING!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" y="9201150"/>
            <a:ext cx="11555257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1F1EE"/>
                </a:solidFill>
                <a:latin typeface="Open Sauce"/>
                <a:ea typeface="Open Sauce"/>
                <a:cs typeface="Open Sauce"/>
                <a:sym typeface="Open Sauce"/>
              </a:rPr>
              <a:t>Mazal Lemlem ; Shai Dahari ;Adane Abaye ; Naor Matsliah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345517" y="9201150"/>
            <a:ext cx="5913783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>
                <a:solidFill>
                  <a:srgbClr val="F1F1EE"/>
                </a:solidFill>
                <a:latin typeface="Open Sauce"/>
                <a:ea typeface="Open Sauce"/>
                <a:cs typeface="Open Sauce"/>
                <a:sym typeface="Open Sauce"/>
              </a:rPr>
              <a:t>2025 April 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8574380"/>
            <a:ext cx="3253740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1F1EE"/>
                </a:solidFill>
                <a:latin typeface="Open Sauce"/>
                <a:ea typeface="Open Sauce"/>
                <a:cs typeface="Open Sauce"/>
                <a:sym typeface="Open Sauce"/>
              </a:rPr>
              <a:t>Team Members: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272</Words>
  <Application>Microsoft Office PowerPoint</Application>
  <PresentationFormat>Custom</PresentationFormat>
  <Paragraphs>48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Open Sauce</vt:lpstr>
      <vt:lpstr>Cooper BT Light</vt:lpstr>
      <vt:lpstr>Arial</vt:lpstr>
      <vt:lpstr>Open Sauce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Contextual Emotion Classification in Music</dc:title>
  <cp:lastModifiedBy>shai dahari</cp:lastModifiedBy>
  <cp:revision>5</cp:revision>
  <dcterms:created xsi:type="dcterms:W3CDTF">2006-08-16T00:00:00Z</dcterms:created>
  <dcterms:modified xsi:type="dcterms:W3CDTF">2025-03-31T22:44:20Z</dcterms:modified>
  <dc:identifier>DAGjVZMUnEE</dc:identifier>
</cp:coreProperties>
</file>