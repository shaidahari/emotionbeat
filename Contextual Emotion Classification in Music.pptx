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18288000" cy="10287000"/>
  <p:notesSz cx="6858000" cy="9144000"/>
  <p:embeddedFontLst>
    <p:embeddedFont>
      <p:font typeface="Cooper BT Light" charset="1" panose="0208050304030B020404"/>
      <p:regular r:id="rId11"/>
    </p:embeddedFont>
    <p:embeddedFont>
      <p:font typeface="Open Sauce" charset="1" panose="00000500000000000000"/>
      <p:regular r:id="rId12"/>
    </p:embeddedFont>
    <p:embeddedFont>
      <p:font typeface="Arimo" charset="1" panose="020B0604020202020204"/>
      <p:regular r:id="rId13"/>
    </p:embeddedFont>
    <p:embeddedFont>
      <p:font typeface="Open Sauce Bold" charset="1" panose="0000080000000000000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https://github.com/shaiDahari/EmotionBeat.git" TargetMode="External" Type="http://schemas.openxmlformats.org/officeDocument/2006/relationships/hyperlink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77B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722301" y="3369093"/>
            <a:ext cx="14843398" cy="19742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02"/>
              </a:lnSpc>
            </a:pPr>
            <a:r>
              <a:rPr lang="en-US" sz="7602">
                <a:solidFill>
                  <a:srgbClr val="F1F1EE"/>
                </a:solidFill>
                <a:latin typeface="Cooper BT Light"/>
                <a:ea typeface="Cooper BT Light"/>
                <a:cs typeface="Cooper BT Light"/>
                <a:sym typeface="Cooper BT Light"/>
              </a:rPr>
              <a:t>Contextual Emotion Classification in Music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722301" y="6026568"/>
            <a:ext cx="14843398" cy="424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0"/>
              </a:lnSpc>
            </a:pPr>
            <a:r>
              <a:rPr lang="en-US" sz="3200" spc="320">
                <a:solidFill>
                  <a:srgbClr val="F1F1EE"/>
                </a:solidFill>
                <a:latin typeface="Open Sauce"/>
                <a:ea typeface="Open Sauce"/>
                <a:cs typeface="Open Sauce"/>
                <a:sym typeface="Open Sauce"/>
              </a:rPr>
              <a:t>PROJECT PROPOSAL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8233099"/>
            <a:ext cx="2316480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sz="3200">
                <a:solidFill>
                  <a:srgbClr val="F1F1EE"/>
                </a:solidFill>
                <a:latin typeface="Open Sauce"/>
                <a:ea typeface="Open Sauce"/>
                <a:cs typeface="Open Sauce"/>
                <a:sym typeface="Open Sauce"/>
              </a:rPr>
              <a:t>Repository :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8932228"/>
            <a:ext cx="8115300" cy="566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 u="sng">
                <a:solidFill>
                  <a:srgbClr val="F1F1EE"/>
                </a:solidFill>
                <a:latin typeface="Arimo"/>
                <a:ea typeface="Arimo"/>
                <a:cs typeface="Arimo"/>
                <a:sym typeface="Arimo"/>
                <a:hlinkClick r:id="rId2" tooltip="https://github.com/shaiDahari/EmotionBeat.git"/>
              </a:rPr>
              <a:t>https://github.com/shaiDahari/EmotionBeat.git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1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5400000">
            <a:off x="8535326" y="-8535326"/>
            <a:ext cx="1217349" cy="18288000"/>
            <a:chOff x="0" y="0"/>
            <a:chExt cx="411795" cy="61863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11795" cy="6186311"/>
            </a:xfrm>
            <a:custGeom>
              <a:avLst/>
              <a:gdLst/>
              <a:ahLst/>
              <a:cxnLst/>
              <a:rect r="r" b="b" t="t" l="l"/>
              <a:pathLst>
                <a:path h="6186311" w="411795">
                  <a:moveTo>
                    <a:pt x="0" y="0"/>
                  </a:moveTo>
                  <a:lnTo>
                    <a:pt x="411795" y="0"/>
                  </a:lnTo>
                  <a:lnTo>
                    <a:pt x="411795" y="6186311"/>
                  </a:lnTo>
                  <a:lnTo>
                    <a:pt x="0" y="6186311"/>
                  </a:lnTo>
                  <a:close/>
                </a:path>
              </a:pathLst>
            </a:custGeom>
            <a:solidFill>
              <a:srgbClr val="0077B6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3316239" y="1400711"/>
            <a:ext cx="10881914" cy="13684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200"/>
              </a:lnSpc>
            </a:pPr>
            <a:r>
              <a:rPr lang="en-US" sz="8000">
                <a:solidFill>
                  <a:srgbClr val="0077B6"/>
                </a:solidFill>
                <a:latin typeface="Cooper BT Light"/>
                <a:ea typeface="Cooper BT Light"/>
                <a:cs typeface="Cooper BT Light"/>
                <a:sym typeface="Cooper BT Light"/>
              </a:rPr>
              <a:t>1. Problem Statement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757196" y="196559"/>
            <a:ext cx="773608" cy="7385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19"/>
              </a:lnSpc>
            </a:pPr>
            <a:r>
              <a:rPr lang="en-US" sz="4299">
                <a:solidFill>
                  <a:srgbClr val="F1F1EE"/>
                </a:solidFill>
                <a:latin typeface="Open Sauce"/>
                <a:ea typeface="Open Sauce"/>
                <a:cs typeface="Open Sauce"/>
                <a:sym typeface="Open Sauce"/>
              </a:rPr>
              <a:t>1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98419" y="3311589"/>
            <a:ext cx="6326776" cy="613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3600" b="true">
                <a:solidFill>
                  <a:srgbClr val="0077B6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Motivation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98419" y="4564380"/>
            <a:ext cx="8442720" cy="4693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604519" indent="-302260" lvl="1">
              <a:lnSpc>
                <a:spcPts val="4199"/>
              </a:lnSpc>
              <a:buFont typeface="Arial"/>
              <a:buChar char="•"/>
            </a:pPr>
            <a:r>
              <a:rPr lang="en-US" sz="2799">
                <a:solidFill>
                  <a:srgbClr val="0077B6"/>
                </a:solidFill>
                <a:latin typeface="Open Sauce"/>
                <a:ea typeface="Open Sauce"/>
                <a:cs typeface="Open Sauce"/>
                <a:sym typeface="Open Sauce"/>
              </a:rPr>
              <a:t>Music listeners often select songs based on emotional context or situation</a:t>
            </a:r>
          </a:p>
          <a:p>
            <a:pPr algn="just" marL="604519" indent="-302260" lvl="1">
              <a:lnSpc>
                <a:spcPts val="4199"/>
              </a:lnSpc>
              <a:buFont typeface="Arial"/>
              <a:buChar char="•"/>
            </a:pPr>
            <a:r>
              <a:rPr lang="en-US" sz="2799">
                <a:solidFill>
                  <a:srgbClr val="0077B6"/>
                </a:solidFill>
                <a:latin typeface="Open Sauce"/>
                <a:ea typeface="Open Sauce"/>
                <a:cs typeface="Open Sauce"/>
                <a:sym typeface="Open Sauce"/>
              </a:rPr>
              <a:t>Current music metadata lacks effective emotional/contextual tagging</a:t>
            </a:r>
          </a:p>
          <a:p>
            <a:pPr algn="just" marL="604519" indent="-302260" lvl="1">
              <a:lnSpc>
                <a:spcPts val="4199"/>
              </a:lnSpc>
              <a:buFont typeface="Arial"/>
              <a:buChar char="•"/>
            </a:pPr>
            <a:r>
              <a:rPr lang="en-US" sz="2799">
                <a:solidFill>
                  <a:srgbClr val="0077B6"/>
                </a:solidFill>
                <a:latin typeface="Open Sauce"/>
                <a:ea typeface="Open Sauce"/>
                <a:cs typeface="Open Sauce"/>
                <a:sym typeface="Open Sauce"/>
              </a:rPr>
              <a:t>Need to recognize implicit emotional context from limited textual data</a:t>
            </a:r>
          </a:p>
          <a:p>
            <a:pPr algn="just" marL="604519" indent="-302260" lvl="1">
              <a:lnSpc>
                <a:spcPts val="4199"/>
              </a:lnSpc>
              <a:buFont typeface="Arial"/>
              <a:buChar char="•"/>
            </a:pPr>
            <a:r>
              <a:rPr lang="en-US" sz="2799">
                <a:solidFill>
                  <a:srgbClr val="0077B6"/>
                </a:solidFill>
                <a:latin typeface="Open Sauce"/>
                <a:ea typeface="Open Sauce"/>
                <a:cs typeface="Open Sauce"/>
                <a:sym typeface="Open Sauce"/>
              </a:rPr>
              <a:t>Application: Help users find songs that match their emotional state or social context</a:t>
            </a:r>
          </a:p>
          <a:p>
            <a:pPr algn="just">
              <a:lnSpc>
                <a:spcPts val="4199"/>
              </a:lnSpc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9530804" y="3369577"/>
            <a:ext cx="6326776" cy="613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3600" b="true">
                <a:solidFill>
                  <a:srgbClr val="0077B6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NLP Task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530804" y="4564380"/>
            <a:ext cx="8465167" cy="4693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604519" indent="-302260" lvl="1">
              <a:lnSpc>
                <a:spcPts val="4199"/>
              </a:lnSpc>
              <a:buFont typeface="Arial"/>
              <a:buChar char="•"/>
            </a:pPr>
            <a:r>
              <a:rPr lang="en-US" sz="2799">
                <a:solidFill>
                  <a:srgbClr val="0077B6"/>
                </a:solidFill>
                <a:latin typeface="Open Sauce"/>
                <a:ea typeface="Open Sauce"/>
                <a:cs typeface="Open Sauce"/>
                <a:sym typeface="Open Sauce"/>
              </a:rPr>
              <a:t>Challenge: Deduce emotional context from limited text (titles, artist names, partial lyrics)</a:t>
            </a:r>
          </a:p>
          <a:p>
            <a:pPr algn="just" marL="604519" indent="-302260" lvl="1">
              <a:lnSpc>
                <a:spcPts val="4199"/>
              </a:lnSpc>
              <a:buFont typeface="Arial"/>
              <a:buChar char="•"/>
            </a:pPr>
            <a:r>
              <a:rPr lang="en-US" sz="2799">
                <a:solidFill>
                  <a:srgbClr val="0077B6"/>
                </a:solidFill>
                <a:latin typeface="Open Sauce"/>
                <a:ea typeface="Open Sauce"/>
                <a:cs typeface="Open Sauce"/>
                <a:sym typeface="Open Sauce"/>
              </a:rPr>
              <a:t>Input: Song metadata (title, artist, genre) and available text descriptions</a:t>
            </a:r>
          </a:p>
          <a:p>
            <a:pPr algn="just" marL="604519" indent="-302260" lvl="1">
              <a:lnSpc>
                <a:spcPts val="4199"/>
              </a:lnSpc>
              <a:buFont typeface="Arial"/>
              <a:buChar char="•"/>
            </a:pPr>
            <a:r>
              <a:rPr lang="en-US" sz="2799">
                <a:solidFill>
                  <a:srgbClr val="0077B6"/>
                </a:solidFill>
                <a:latin typeface="Open Sauce"/>
                <a:ea typeface="Open Sauce"/>
                <a:cs typeface="Open Sauce"/>
                <a:sym typeface="Open Sauce"/>
              </a:rPr>
              <a:t>Output for "closed-world" version: Classify into predefined emotion/context categories</a:t>
            </a:r>
          </a:p>
          <a:p>
            <a:pPr algn="just" marL="604519" indent="-302260" lvl="1">
              <a:lnSpc>
                <a:spcPts val="4199"/>
              </a:lnSpc>
              <a:buFont typeface="Arial"/>
              <a:buChar char="•"/>
            </a:pPr>
            <a:r>
              <a:rPr lang="en-US" sz="2799">
                <a:solidFill>
                  <a:srgbClr val="0077B6"/>
                </a:solidFill>
                <a:latin typeface="Open Sauce"/>
                <a:ea typeface="Open Sauce"/>
                <a:cs typeface="Open Sauce"/>
                <a:sym typeface="Open Sauce"/>
              </a:rPr>
              <a:t>Output for "open-world" version: Generate natural language emotional descriptions</a:t>
            </a:r>
          </a:p>
          <a:p>
            <a:pPr algn="just">
              <a:lnSpc>
                <a:spcPts val="4199"/>
              </a:lnSpc>
            </a:p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F1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5400000">
            <a:off x="8535326" y="-8535326"/>
            <a:ext cx="1217349" cy="18288000"/>
            <a:chOff x="0" y="0"/>
            <a:chExt cx="411795" cy="61863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11795" cy="6186311"/>
            </a:xfrm>
            <a:custGeom>
              <a:avLst/>
              <a:gdLst/>
              <a:ahLst/>
              <a:cxnLst/>
              <a:rect r="r" b="b" t="t" l="l"/>
              <a:pathLst>
                <a:path h="6186311" w="411795">
                  <a:moveTo>
                    <a:pt x="0" y="0"/>
                  </a:moveTo>
                  <a:lnTo>
                    <a:pt x="411795" y="0"/>
                  </a:lnTo>
                  <a:lnTo>
                    <a:pt x="411795" y="6186311"/>
                  </a:lnTo>
                  <a:lnTo>
                    <a:pt x="0" y="6186311"/>
                  </a:lnTo>
                  <a:close/>
                </a:path>
              </a:pathLst>
            </a:custGeom>
            <a:solidFill>
              <a:srgbClr val="0077B6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3489198" y="1658669"/>
            <a:ext cx="11309604" cy="13684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200"/>
              </a:lnSpc>
            </a:pPr>
            <a:r>
              <a:rPr lang="en-US" sz="8000">
                <a:solidFill>
                  <a:srgbClr val="0077B6"/>
                </a:solidFill>
                <a:latin typeface="Cooper BT Light"/>
                <a:ea typeface="Cooper BT Light"/>
                <a:cs typeface="Cooper BT Light"/>
                <a:sym typeface="Cooper BT Light"/>
              </a:rPr>
              <a:t>2. Training and Test Data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757196" y="247359"/>
            <a:ext cx="773608" cy="6464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19"/>
              </a:lnSpc>
            </a:pPr>
            <a:r>
              <a:rPr lang="en-US" sz="3799">
                <a:solidFill>
                  <a:srgbClr val="F1F1EE"/>
                </a:solidFill>
                <a:latin typeface="Open Sauce"/>
                <a:ea typeface="Open Sauce"/>
                <a:cs typeface="Open Sauce"/>
                <a:sym typeface="Open Sauce"/>
              </a:rPr>
              <a:t>2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3544614"/>
            <a:ext cx="9695136" cy="1313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19"/>
              </a:lnSpc>
            </a:pPr>
            <a:r>
              <a:rPr lang="en-US" sz="3799" b="true">
                <a:solidFill>
                  <a:srgbClr val="0077B6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Spotify Most Popular Songs Dataset</a:t>
            </a:r>
          </a:p>
          <a:p>
            <a:pPr algn="l">
              <a:lnSpc>
                <a:spcPts val="5319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4325302"/>
            <a:ext cx="13440148" cy="1550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604519" indent="-302260" lvl="1">
              <a:lnSpc>
                <a:spcPts val="4199"/>
              </a:lnSpc>
              <a:buFont typeface="Arial"/>
              <a:buChar char="•"/>
            </a:pPr>
            <a:r>
              <a:rPr lang="en-US" sz="2799">
                <a:solidFill>
                  <a:srgbClr val="0077B6"/>
                </a:solidFill>
                <a:latin typeface="Open Sauce"/>
                <a:ea typeface="Open Sauce"/>
                <a:cs typeface="Open Sauce"/>
                <a:sym typeface="Open Sauce"/>
              </a:rPr>
              <a:t>Kaggl</a:t>
            </a:r>
            <a:r>
              <a:rPr lang="en-US" sz="2799">
                <a:solidFill>
                  <a:srgbClr val="0077B6"/>
                </a:solidFill>
                <a:latin typeface="Open Sauce"/>
                <a:ea typeface="Open Sauce"/>
                <a:cs typeface="Open Sauce"/>
                <a:sym typeface="Open Sauce"/>
              </a:rPr>
              <a:t>e dataset containing 160K+ tracks with metadata</a:t>
            </a:r>
          </a:p>
          <a:p>
            <a:pPr algn="just" marL="604519" indent="-302260" lvl="1">
              <a:lnSpc>
                <a:spcPts val="4199"/>
              </a:lnSpc>
              <a:buFont typeface="Arial"/>
              <a:buChar char="•"/>
            </a:pPr>
            <a:r>
              <a:rPr lang="en-US" sz="2799">
                <a:solidFill>
                  <a:srgbClr val="0077B6"/>
                </a:solidFill>
                <a:latin typeface="Open Sauce"/>
                <a:ea typeface="Open Sauce"/>
                <a:cs typeface="Open Sauce"/>
                <a:sym typeface="Open Sauce"/>
              </a:rPr>
              <a:t>Features: song name, artist, genre, year, popularity metrics</a:t>
            </a:r>
          </a:p>
          <a:p>
            <a:pPr algn="just">
              <a:lnSpc>
                <a:spcPts val="4199"/>
              </a:lnSpc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6038850"/>
            <a:ext cx="3545891" cy="646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19"/>
              </a:lnSpc>
            </a:pPr>
            <a:r>
              <a:rPr lang="en-US" sz="3799" b="true">
                <a:solidFill>
                  <a:srgbClr val="0077B6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Synthetic data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6799983"/>
            <a:ext cx="19533973" cy="1550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604519" indent="-302260" lvl="1">
              <a:lnSpc>
                <a:spcPts val="4199"/>
              </a:lnSpc>
              <a:buFont typeface="Arial"/>
              <a:buChar char="•"/>
            </a:pPr>
            <a:r>
              <a:rPr lang="en-US" sz="2799">
                <a:solidFill>
                  <a:srgbClr val="0077B6"/>
                </a:solidFill>
                <a:latin typeface="Open Sauce"/>
                <a:ea typeface="Open Sauce"/>
                <a:cs typeface="Open Sauce"/>
                <a:sym typeface="Open Sauce"/>
              </a:rPr>
              <a:t>S</a:t>
            </a:r>
            <a:r>
              <a:rPr lang="en-US" sz="2799">
                <a:solidFill>
                  <a:srgbClr val="0077B6"/>
                </a:solidFill>
                <a:latin typeface="Open Sauce"/>
                <a:ea typeface="Open Sauce"/>
                <a:cs typeface="Open Sauce"/>
                <a:sym typeface="Open Sauce"/>
              </a:rPr>
              <a:t>ource: Partial lyrics and song descriptions where available</a:t>
            </a:r>
          </a:p>
          <a:p>
            <a:pPr algn="just" marL="604519" indent="-302260" lvl="1">
              <a:lnSpc>
                <a:spcPts val="4199"/>
              </a:lnSpc>
              <a:buFont typeface="Arial"/>
              <a:buChar char="•"/>
            </a:pPr>
            <a:r>
              <a:rPr lang="en-US" sz="2799">
                <a:solidFill>
                  <a:srgbClr val="0077B6"/>
                </a:solidFill>
                <a:latin typeface="Open Sauce"/>
                <a:ea typeface="Open Sauce"/>
                <a:cs typeface="Open Sauce"/>
                <a:sym typeface="Open Sauce"/>
              </a:rPr>
              <a:t>Augmentation:</a:t>
            </a:r>
          </a:p>
          <a:p>
            <a:pPr algn="just">
              <a:lnSpc>
                <a:spcPts val="4199"/>
              </a:lnSpc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1620723" y="7856855"/>
            <a:ext cx="12645535" cy="1550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604519" indent="-302260" lvl="1">
              <a:lnSpc>
                <a:spcPts val="4199"/>
              </a:lnSpc>
              <a:spcBef>
                <a:spcPct val="0"/>
              </a:spcBef>
              <a:buFont typeface="Arial"/>
              <a:buChar char="•"/>
            </a:pPr>
            <a:r>
              <a:rPr lang="en-US" sz="2799" strike="noStrike" u="none">
                <a:solidFill>
                  <a:srgbClr val="0077B6"/>
                </a:solidFill>
                <a:latin typeface="Open Sauce"/>
                <a:ea typeface="Open Sauce"/>
                <a:cs typeface="Open Sauce"/>
                <a:sym typeface="Open Sauce"/>
              </a:rPr>
              <a:t>LLM to generate emotional labels for seed dataset</a:t>
            </a:r>
          </a:p>
          <a:p>
            <a:pPr algn="just" marL="604519" indent="-302260" lvl="1">
              <a:lnSpc>
                <a:spcPts val="4199"/>
              </a:lnSpc>
              <a:spcBef>
                <a:spcPct val="0"/>
              </a:spcBef>
              <a:buFont typeface="Arial"/>
              <a:buChar char="•"/>
            </a:pPr>
            <a:r>
              <a:rPr lang="en-US" sz="2799" strike="noStrike" u="none">
                <a:solidFill>
                  <a:srgbClr val="0077B6"/>
                </a:solidFill>
                <a:latin typeface="Open Sauce"/>
                <a:ea typeface="Open Sauce"/>
                <a:cs typeface="Open Sauce"/>
                <a:sym typeface="Open Sauce"/>
              </a:rPr>
              <a:t>Human validation on subset to create gold standard</a:t>
            </a:r>
          </a:p>
          <a:p>
            <a:pPr algn="just" marL="604519" indent="-302260" lvl="1">
              <a:lnSpc>
                <a:spcPts val="4199"/>
              </a:lnSpc>
              <a:spcBef>
                <a:spcPct val="0"/>
              </a:spcBef>
              <a:buFont typeface="Arial"/>
              <a:buChar char="•"/>
            </a:pPr>
            <a:r>
              <a:rPr lang="en-US" sz="2799" strike="noStrike" u="none">
                <a:solidFill>
                  <a:srgbClr val="0077B6"/>
                </a:solidFill>
                <a:latin typeface="Open Sauce"/>
                <a:ea typeface="Open Sauce"/>
                <a:cs typeface="Open Sauce"/>
                <a:sym typeface="Open Sauce"/>
              </a:rPr>
              <a:t>Data enrichment by collecting additional descriptions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F1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5400000">
            <a:off x="8535326" y="-8535326"/>
            <a:ext cx="1217349" cy="18288000"/>
            <a:chOff x="0" y="0"/>
            <a:chExt cx="411795" cy="61863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11795" cy="6186311"/>
            </a:xfrm>
            <a:custGeom>
              <a:avLst/>
              <a:gdLst/>
              <a:ahLst/>
              <a:cxnLst/>
              <a:rect r="r" b="b" t="t" l="l"/>
              <a:pathLst>
                <a:path h="6186311" w="411795">
                  <a:moveTo>
                    <a:pt x="0" y="0"/>
                  </a:moveTo>
                  <a:lnTo>
                    <a:pt x="411795" y="0"/>
                  </a:lnTo>
                  <a:lnTo>
                    <a:pt x="411795" y="6186311"/>
                  </a:lnTo>
                  <a:lnTo>
                    <a:pt x="0" y="6186311"/>
                  </a:lnTo>
                  <a:close/>
                </a:path>
              </a:pathLst>
            </a:custGeom>
            <a:solidFill>
              <a:srgbClr val="0077B6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6123197" y="1496890"/>
            <a:ext cx="6041606" cy="13684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200"/>
              </a:lnSpc>
            </a:pPr>
            <a:r>
              <a:rPr lang="en-US" sz="8000">
                <a:solidFill>
                  <a:srgbClr val="0077B6"/>
                </a:solidFill>
                <a:latin typeface="Cooper BT Light"/>
                <a:ea typeface="Cooper BT Light"/>
                <a:cs typeface="Cooper BT Light"/>
                <a:sym typeface="Cooper BT Light"/>
              </a:rPr>
              <a:t>3. Evaluation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757196" y="247359"/>
            <a:ext cx="773608" cy="6464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19"/>
              </a:lnSpc>
            </a:pPr>
            <a:r>
              <a:rPr lang="en-US" sz="3799">
                <a:solidFill>
                  <a:srgbClr val="F1F1EE"/>
                </a:solidFill>
                <a:latin typeface="Open Sauce"/>
                <a:ea typeface="Open Sauce"/>
                <a:cs typeface="Open Sauce"/>
                <a:sym typeface="Open Sauce"/>
              </a:rPr>
              <a:t>3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3544614"/>
            <a:ext cx="9695136" cy="646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19"/>
              </a:lnSpc>
            </a:pPr>
            <a:r>
              <a:rPr lang="en-US" sz="3799" b="true">
                <a:solidFill>
                  <a:srgbClr val="0077B6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Closed-world metrics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4533945"/>
            <a:ext cx="7044625" cy="5290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499"/>
              </a:lnSpc>
            </a:pPr>
            <a:r>
              <a:rPr lang="en-US" b="true" sz="2999">
                <a:solidFill>
                  <a:srgbClr val="0077B6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Cl</a:t>
            </a:r>
            <a:r>
              <a:rPr lang="en-US" b="true" sz="2999">
                <a:solidFill>
                  <a:srgbClr val="0077B6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assification metrics</a:t>
            </a:r>
          </a:p>
          <a:p>
            <a:pPr algn="just" marL="604519" indent="-302260" lvl="1">
              <a:lnSpc>
                <a:spcPts val="4199"/>
              </a:lnSpc>
              <a:buFont typeface="Arial"/>
              <a:buChar char="•"/>
            </a:pPr>
            <a:r>
              <a:rPr lang="en-US" sz="2799">
                <a:solidFill>
                  <a:srgbClr val="0077B6"/>
                </a:solidFill>
                <a:latin typeface="Open Sauce"/>
                <a:ea typeface="Open Sauce"/>
                <a:cs typeface="Open Sauce"/>
                <a:sym typeface="Open Sauce"/>
              </a:rPr>
              <a:t>Precision and Recall.</a:t>
            </a:r>
          </a:p>
          <a:p>
            <a:pPr algn="just" marL="604519" indent="-302260" lvl="1">
              <a:lnSpc>
                <a:spcPts val="4199"/>
              </a:lnSpc>
              <a:buFont typeface="Arial"/>
              <a:buChar char="•"/>
            </a:pPr>
            <a:r>
              <a:rPr lang="en-US" sz="2799">
                <a:solidFill>
                  <a:srgbClr val="0077B6"/>
                </a:solidFill>
                <a:latin typeface="Open Sauce"/>
                <a:ea typeface="Open Sauce"/>
                <a:cs typeface="Open Sauce"/>
                <a:sym typeface="Open Sauce"/>
              </a:rPr>
              <a:t>P</a:t>
            </a:r>
            <a:r>
              <a:rPr lang="en-US" sz="2799">
                <a:solidFill>
                  <a:srgbClr val="0077B6"/>
                </a:solidFill>
                <a:latin typeface="Open Sauce"/>
                <a:ea typeface="Open Sauce"/>
                <a:cs typeface="Open Sauce"/>
                <a:sym typeface="Open Sauce"/>
              </a:rPr>
              <a:t>recision@K.</a:t>
            </a:r>
          </a:p>
          <a:p>
            <a:pPr algn="just">
              <a:lnSpc>
                <a:spcPts val="4499"/>
              </a:lnSpc>
            </a:pPr>
            <a:r>
              <a:rPr lang="en-US" b="true" sz="2999">
                <a:solidFill>
                  <a:srgbClr val="0077B6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Baseline</a:t>
            </a:r>
          </a:p>
          <a:p>
            <a:pPr algn="just" marL="604519" indent="-302260" lvl="1">
              <a:lnSpc>
                <a:spcPts val="4199"/>
              </a:lnSpc>
              <a:buFont typeface="Arial"/>
              <a:buChar char="•"/>
            </a:pPr>
            <a:r>
              <a:rPr lang="en-US" sz="2799">
                <a:solidFill>
                  <a:srgbClr val="0077B6"/>
                </a:solidFill>
                <a:latin typeface="Open Sauce"/>
                <a:ea typeface="Open Sauce"/>
                <a:cs typeface="Open Sauce"/>
                <a:sym typeface="Open Sauce"/>
              </a:rPr>
              <a:t>Rank predefined emotion / context labels by computing cosine similarity between their embeddings &amp; the embedding of the song metadata.</a:t>
            </a:r>
          </a:p>
          <a:p>
            <a:pPr algn="just">
              <a:lnSpc>
                <a:spcPts val="4199"/>
              </a:lnSpc>
            </a:pPr>
          </a:p>
          <a:p>
            <a:pPr algn="just">
              <a:lnSpc>
                <a:spcPts val="4199"/>
              </a:lnSpc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8757196" y="3541589"/>
            <a:ext cx="4938044" cy="646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19"/>
              </a:lnSpc>
            </a:pPr>
            <a:r>
              <a:rPr lang="en-US" sz="3799" b="true">
                <a:solidFill>
                  <a:srgbClr val="0077B6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Open-world metrics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757196" y="4533945"/>
            <a:ext cx="9111825" cy="4242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499"/>
              </a:lnSpc>
            </a:pPr>
            <a:r>
              <a:rPr lang="en-US" b="true" sz="2999">
                <a:solidFill>
                  <a:srgbClr val="0077B6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Text Generati</a:t>
            </a:r>
            <a:r>
              <a:rPr lang="en-US" b="true" sz="2999">
                <a:solidFill>
                  <a:srgbClr val="0077B6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on metrics</a:t>
            </a:r>
          </a:p>
          <a:p>
            <a:pPr algn="just" marL="604519" indent="-302260" lvl="1">
              <a:lnSpc>
                <a:spcPts val="4199"/>
              </a:lnSpc>
              <a:buFont typeface="Arial"/>
              <a:buChar char="•"/>
            </a:pPr>
            <a:r>
              <a:rPr lang="en-US" sz="2799">
                <a:solidFill>
                  <a:srgbClr val="0077B6"/>
                </a:solidFill>
                <a:latin typeface="Open Sauce"/>
                <a:ea typeface="Open Sauce"/>
                <a:cs typeface="Open Sauce"/>
                <a:sym typeface="Open Sauce"/>
              </a:rPr>
              <a:t>Human evaluation of emotional context accuracy</a:t>
            </a:r>
          </a:p>
          <a:p>
            <a:pPr algn="just" marL="604519" indent="-302260" lvl="1">
              <a:lnSpc>
                <a:spcPts val="4199"/>
              </a:lnSpc>
              <a:buFont typeface="Arial"/>
              <a:buChar char="•"/>
            </a:pPr>
            <a:r>
              <a:rPr lang="en-US" sz="2799">
                <a:solidFill>
                  <a:srgbClr val="0077B6"/>
                </a:solidFill>
                <a:latin typeface="Open Sauce"/>
                <a:ea typeface="Open Sauce"/>
                <a:cs typeface="Open Sauce"/>
                <a:sym typeface="Open Sauce"/>
              </a:rPr>
              <a:t>LLM-based evaluation of generated descriptions</a:t>
            </a:r>
          </a:p>
          <a:p>
            <a:pPr algn="just">
              <a:lnSpc>
                <a:spcPts val="4499"/>
              </a:lnSpc>
            </a:pPr>
            <a:r>
              <a:rPr lang="en-US" b="true" sz="2999">
                <a:solidFill>
                  <a:srgbClr val="0077B6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Baseline</a:t>
            </a:r>
          </a:p>
          <a:p>
            <a:pPr algn="just" marL="604519" indent="-302260" lvl="1">
              <a:lnSpc>
                <a:spcPts val="4199"/>
              </a:lnSpc>
              <a:buFont typeface="Arial"/>
              <a:buChar char="•"/>
            </a:pPr>
            <a:r>
              <a:rPr lang="en-US" sz="2799">
                <a:solidFill>
                  <a:srgbClr val="0077B6"/>
                </a:solidFill>
                <a:latin typeface="Open Sauce"/>
                <a:ea typeface="Open Sauce"/>
                <a:cs typeface="Open Sauce"/>
                <a:sym typeface="Open Sauce"/>
              </a:rPr>
              <a:t>Gen</a:t>
            </a:r>
            <a:r>
              <a:rPr lang="en-US" sz="2799">
                <a:solidFill>
                  <a:srgbClr val="0077B6"/>
                </a:solidFill>
                <a:latin typeface="Open Sauce"/>
                <a:ea typeface="Open Sauce"/>
                <a:cs typeface="Open Sauce"/>
                <a:sym typeface="Open Sauce"/>
              </a:rPr>
              <a:t>erate free-text emotional descriptions using a simple zero-shot prompt, without examples or task-specific tuning.</a:t>
            </a:r>
          </a:p>
          <a:p>
            <a:pPr algn="just">
              <a:lnSpc>
                <a:spcPts val="4199"/>
              </a:lnSpc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0077B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722301" y="3559593"/>
            <a:ext cx="14843398" cy="2409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0"/>
              </a:lnSpc>
            </a:pPr>
            <a:r>
              <a:rPr lang="en-US" sz="18000">
                <a:solidFill>
                  <a:srgbClr val="F1F1EE"/>
                </a:solidFill>
                <a:latin typeface="Cooper BT Light"/>
                <a:ea typeface="Cooper BT Light"/>
                <a:cs typeface="Cooper BT Light"/>
                <a:sym typeface="Cooper BT Light"/>
              </a:rPr>
              <a:t>Thank You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722301" y="6036093"/>
            <a:ext cx="14843398" cy="481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600" spc="359">
                <a:solidFill>
                  <a:srgbClr val="F1F1EE"/>
                </a:solidFill>
                <a:latin typeface="Open Sauce"/>
                <a:ea typeface="Open Sauce"/>
                <a:cs typeface="Open Sauce"/>
                <a:sym typeface="Open Sauce"/>
              </a:rPr>
              <a:t>FOR LISTENING!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14400" y="9201150"/>
            <a:ext cx="11555257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F1F1EE"/>
                </a:solidFill>
                <a:latin typeface="Open Sauce"/>
                <a:ea typeface="Open Sauce"/>
                <a:cs typeface="Open Sauce"/>
                <a:sym typeface="Open Sauce"/>
              </a:rPr>
              <a:t>Mazal Lemlem ; Shai Dahari ;Adane Abaye ; Naor Matsliah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345517" y="9201150"/>
            <a:ext cx="5913783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480"/>
              </a:lnSpc>
            </a:pPr>
            <a:r>
              <a:rPr lang="en-US" sz="3200">
                <a:solidFill>
                  <a:srgbClr val="F1F1EE"/>
                </a:solidFill>
                <a:latin typeface="Open Sauce"/>
                <a:ea typeface="Open Sauce"/>
                <a:cs typeface="Open Sauce"/>
                <a:sym typeface="Open Sauce"/>
              </a:rPr>
              <a:t>2025 April 2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14400" y="8574380"/>
            <a:ext cx="3253740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sz="3200">
                <a:solidFill>
                  <a:srgbClr val="F1F1EE"/>
                </a:solidFill>
                <a:latin typeface="Open Sauce"/>
                <a:ea typeface="Open Sauce"/>
                <a:cs typeface="Open Sauce"/>
                <a:sym typeface="Open Sauce"/>
              </a:rPr>
              <a:t>Team Members: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DAGjVZMUnEE</dc:identifier>
  <dcterms:modified xsi:type="dcterms:W3CDTF">2011-08-01T06:04:30Z</dcterms:modified>
  <cp:revision>1</cp:revision>
  <dc:title>Contextual Emotion Classification in Music</dc:title>
</cp:coreProperties>
</file>